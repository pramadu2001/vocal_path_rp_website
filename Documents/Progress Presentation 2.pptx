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ublic Sans Bold" charset="1" panose="00000000000000000000"/>
      <p:regular r:id="rId17"/>
    </p:embeddedFont>
    <p:embeddedFont>
      <p:font typeface="Roboto Bold" charset="1" panose="02000000000000000000"/>
      <p:regular r:id="rId18"/>
    </p:embeddedFont>
    <p:embeddedFont>
      <p:font typeface="Roboto" charset="1" panose="020000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830296" y="4457476"/>
            <a:ext cx="12986898" cy="2372224"/>
            <a:chOff x="0" y="0"/>
            <a:chExt cx="3420418" cy="624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0418" cy="624783"/>
            </a:xfrm>
            <a:custGeom>
              <a:avLst/>
              <a:gdLst/>
              <a:ahLst/>
              <a:cxnLst/>
              <a:rect r="r" b="b" t="t" l="l"/>
              <a:pathLst>
                <a:path h="624783" w="3420418">
                  <a:moveTo>
                    <a:pt x="47691" y="0"/>
                  </a:moveTo>
                  <a:lnTo>
                    <a:pt x="3372727" y="0"/>
                  </a:lnTo>
                  <a:cubicBezTo>
                    <a:pt x="3385375" y="0"/>
                    <a:pt x="3397505" y="5025"/>
                    <a:pt x="3406449" y="13968"/>
                  </a:cubicBezTo>
                  <a:cubicBezTo>
                    <a:pt x="3415393" y="22912"/>
                    <a:pt x="3420418" y="35042"/>
                    <a:pt x="3420418" y="47691"/>
                  </a:cubicBezTo>
                  <a:lnTo>
                    <a:pt x="3420418" y="577093"/>
                  </a:lnTo>
                  <a:cubicBezTo>
                    <a:pt x="3420418" y="603431"/>
                    <a:pt x="3399066" y="624783"/>
                    <a:pt x="3372727" y="624783"/>
                  </a:cubicBezTo>
                  <a:lnTo>
                    <a:pt x="47691" y="624783"/>
                  </a:lnTo>
                  <a:cubicBezTo>
                    <a:pt x="35042" y="624783"/>
                    <a:pt x="22912" y="619759"/>
                    <a:pt x="13968" y="610815"/>
                  </a:cubicBezTo>
                  <a:cubicBezTo>
                    <a:pt x="5025" y="601871"/>
                    <a:pt x="0" y="589741"/>
                    <a:pt x="0" y="577093"/>
                  </a:cubicBezTo>
                  <a:lnTo>
                    <a:pt x="0" y="47691"/>
                  </a:lnTo>
                  <a:cubicBezTo>
                    <a:pt x="0" y="35042"/>
                    <a:pt x="5025" y="22912"/>
                    <a:pt x="13968" y="13968"/>
                  </a:cubicBezTo>
                  <a:cubicBezTo>
                    <a:pt x="22912" y="5025"/>
                    <a:pt x="35042" y="0"/>
                    <a:pt x="476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C11F">
                    <a:alpha val="57000"/>
                  </a:srgbClr>
                </a:gs>
                <a:gs pos="50000">
                  <a:srgbClr val="006636">
                    <a:alpha val="62500"/>
                  </a:srgbClr>
                </a:gs>
                <a:gs pos="100000">
                  <a:srgbClr val="006636">
                    <a:alpha val="62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20418" cy="662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34908" y="1644897"/>
            <a:ext cx="8282351" cy="7883082"/>
            <a:chOff x="0" y="0"/>
            <a:chExt cx="85396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8856" y="26909"/>
              <a:ext cx="796255" cy="758983"/>
            </a:xfrm>
            <a:custGeom>
              <a:avLst/>
              <a:gdLst/>
              <a:ahLst/>
              <a:cxnLst/>
              <a:rect r="r" b="b" t="t" l="l"/>
              <a:pathLst>
                <a:path h="758983" w="796255">
                  <a:moveTo>
                    <a:pt x="446878" y="19491"/>
                  </a:moveTo>
                  <a:lnTo>
                    <a:pt x="776361" y="333091"/>
                  </a:lnTo>
                  <a:cubicBezTo>
                    <a:pt x="789065" y="345182"/>
                    <a:pt x="796255" y="361953"/>
                    <a:pt x="796255" y="379491"/>
                  </a:cubicBezTo>
                  <a:cubicBezTo>
                    <a:pt x="796255" y="397029"/>
                    <a:pt x="789065" y="413800"/>
                    <a:pt x="776361" y="425891"/>
                  </a:cubicBezTo>
                  <a:lnTo>
                    <a:pt x="446878" y="739491"/>
                  </a:lnTo>
                  <a:cubicBezTo>
                    <a:pt x="419573" y="765479"/>
                    <a:pt x="376682" y="765479"/>
                    <a:pt x="349378" y="739491"/>
                  </a:cubicBezTo>
                  <a:lnTo>
                    <a:pt x="19894" y="425891"/>
                  </a:lnTo>
                  <a:cubicBezTo>
                    <a:pt x="7191" y="413800"/>
                    <a:pt x="0" y="397029"/>
                    <a:pt x="0" y="379491"/>
                  </a:cubicBezTo>
                  <a:cubicBezTo>
                    <a:pt x="0" y="361953"/>
                    <a:pt x="7191" y="345182"/>
                    <a:pt x="19894" y="333091"/>
                  </a:cubicBezTo>
                  <a:lnTo>
                    <a:pt x="349378" y="19491"/>
                  </a:lnTo>
                  <a:cubicBezTo>
                    <a:pt x="376682" y="-6497"/>
                    <a:pt x="419573" y="-6497"/>
                    <a:pt x="446878" y="19491"/>
                  </a:cubicBezTo>
                  <a:close/>
                </a:path>
              </a:pathLst>
            </a:custGeom>
            <a:blipFill>
              <a:blip r:embed="rId2"/>
              <a:stretch>
                <a:fillRect l="-18394" t="-3545" r="-34817" b="-3545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584791" y="8257103"/>
            <a:ext cx="85355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550893" y="2069529"/>
            <a:ext cx="545019" cy="521105"/>
          </a:xfrm>
          <a:custGeom>
            <a:avLst/>
            <a:gdLst/>
            <a:ahLst/>
            <a:cxnLst/>
            <a:rect r="r" b="b" t="t" l="l"/>
            <a:pathLst>
              <a:path h="521105" w="545019">
                <a:moveTo>
                  <a:pt x="0" y="0"/>
                </a:moveTo>
                <a:lnTo>
                  <a:pt x="545018" y="0"/>
                </a:lnTo>
                <a:lnTo>
                  <a:pt x="545018" y="521105"/>
                </a:lnTo>
                <a:lnTo>
                  <a:pt x="0" y="521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1017" y="2848084"/>
            <a:ext cx="9719370" cy="16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31"/>
              </a:lnSpc>
            </a:pPr>
            <a:r>
              <a:rPr lang="en-US" b="true" sz="10982">
                <a:solidFill>
                  <a:srgbClr val="183A07"/>
                </a:solidFill>
                <a:latin typeface="Poppins Bold"/>
                <a:ea typeface="Poppins Bold"/>
                <a:cs typeface="Poppins Bold"/>
                <a:sym typeface="Poppins Bold"/>
              </a:rPr>
              <a:t>VOCAL PATH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4615" y="4987300"/>
            <a:ext cx="8727883" cy="110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</a:pPr>
            <a:r>
              <a:rPr lang="en-US" b="true" sz="307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CLOUD-ENABLED INTELLIGENT SYSTEM FOR ADAPTIVE SPEECH THERAPY IN STUTTERING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86770" y="7458350"/>
            <a:ext cx="5304910" cy="374650"/>
            <a:chOff x="0" y="0"/>
            <a:chExt cx="7073213" cy="49953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2964764" cy="56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183A07"/>
                  </a:solidFill>
                  <a:latin typeface="Poppins"/>
                  <a:ea typeface="Poppins"/>
                  <a:cs typeface="Poppins"/>
                  <a:sym typeface="Poppins"/>
                </a:rPr>
                <a:t>Presented by 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990584" y="-66675"/>
              <a:ext cx="4082629" cy="56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b="true" sz="2499">
                  <a:solidFill>
                    <a:srgbClr val="183A0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25-26J-383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0758" y="2889792"/>
            <a:ext cx="7541558" cy="5027705"/>
          </a:xfrm>
          <a:custGeom>
            <a:avLst/>
            <a:gdLst/>
            <a:ahLst/>
            <a:cxnLst/>
            <a:rect r="r" b="b" t="t" l="l"/>
            <a:pathLst>
              <a:path h="5027705" w="7541558">
                <a:moveTo>
                  <a:pt x="0" y="0"/>
                </a:moveTo>
                <a:lnTo>
                  <a:pt x="7541558" y="0"/>
                </a:lnTo>
                <a:lnTo>
                  <a:pt x="7541558" y="5027706"/>
                </a:lnTo>
                <a:lnTo>
                  <a:pt x="0" y="5027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382" y="419403"/>
            <a:ext cx="13661789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062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 &amp;       STAKEHOLDERS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382" y="3919524"/>
            <a:ext cx="79287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STAKEHOLDERS: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1382" y="2991154"/>
            <a:ext cx="9993823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Limited access to Speech-Language Pathologists in Sri Lanka makes early treatment for children (ages 5–10) with stuttering difficult.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1382" y="2467517"/>
            <a:ext cx="79287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CONTEXT: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382" y="4538027"/>
            <a:ext cx="9993823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Primary Users: Children who stutter (CWS).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Secondary Users: Parents and Speech-Language Therapists/Clinicians.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935" y="6093778"/>
            <a:ext cx="9993823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Current stuttering diagnosis is subjective, slow, and not suited for Sinhala-speaking children, especially in rural areas.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1382" y="7831773"/>
            <a:ext cx="9993823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Untreated stuttering can cause anxiety, social withdrawal, and lower classroom engagement.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6935" y="5510848"/>
            <a:ext cx="79287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OBSERVED ISSUE: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1382" y="7209473"/>
            <a:ext cx="79287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WHY IT MATTERS: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0738" y="576522"/>
            <a:ext cx="10046523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062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RESEARCH GAP &amp; OBJECTIVES</a:t>
            </a:r>
          </a:p>
          <a:p>
            <a:pPr algn="ctr">
              <a:lnSpc>
                <a:spcPts val="57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87757" y="2356802"/>
            <a:ext cx="222113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>
                <a:gradFill>
                  <a:gsLst>
                    <a:gs pos="0">
                      <a:srgbClr val="35A201">
                        <a:alpha val="100000"/>
                      </a:srgbClr>
                    </a:gs>
                    <a:gs pos="100000">
                      <a:srgbClr val="071600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RESEARCH GAP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91571" y="5312659"/>
            <a:ext cx="493107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gradFill>
                  <a:gsLst>
                    <a:gs pos="0">
                      <a:srgbClr val="35A201">
                        <a:alpha val="100000"/>
                      </a:srgbClr>
                    </a:gs>
                    <a:gs pos="100000">
                      <a:srgbClr val="071600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SPECIFIC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44218" y="2356802"/>
            <a:ext cx="227392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b="true" sz="2199">
                <a:gradFill>
                  <a:gsLst>
                    <a:gs pos="0">
                      <a:srgbClr val="35A201">
                        <a:alpha val="100000"/>
                      </a:srgbClr>
                    </a:gs>
                    <a:gs pos="100000">
                      <a:srgbClr val="071600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MAIN OBJECTIVE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263241" y="5809075"/>
            <a:ext cx="6387737" cy="3449225"/>
            <a:chOff x="0" y="0"/>
            <a:chExt cx="1682367" cy="908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2367" cy="908438"/>
            </a:xfrm>
            <a:custGeom>
              <a:avLst/>
              <a:gdLst/>
              <a:ahLst/>
              <a:cxnLst/>
              <a:rect r="r" b="b" t="t" l="l"/>
              <a:pathLst>
                <a:path h="908438" w="1682367">
                  <a:moveTo>
                    <a:pt x="60600" y="0"/>
                  </a:moveTo>
                  <a:lnTo>
                    <a:pt x="1621767" y="0"/>
                  </a:lnTo>
                  <a:cubicBezTo>
                    <a:pt x="1655236" y="0"/>
                    <a:pt x="1682367" y="27131"/>
                    <a:pt x="1682367" y="60600"/>
                  </a:cubicBezTo>
                  <a:lnTo>
                    <a:pt x="1682367" y="847838"/>
                  </a:lnTo>
                  <a:cubicBezTo>
                    <a:pt x="1682367" y="863910"/>
                    <a:pt x="1675982" y="879324"/>
                    <a:pt x="1664618" y="890689"/>
                  </a:cubicBezTo>
                  <a:cubicBezTo>
                    <a:pt x="1653253" y="902053"/>
                    <a:pt x="1637839" y="908438"/>
                    <a:pt x="1621767" y="908438"/>
                  </a:cubicBezTo>
                  <a:lnTo>
                    <a:pt x="60600" y="908438"/>
                  </a:lnTo>
                  <a:cubicBezTo>
                    <a:pt x="27131" y="908438"/>
                    <a:pt x="0" y="881306"/>
                    <a:pt x="0" y="847838"/>
                  </a:cubicBezTo>
                  <a:lnTo>
                    <a:pt x="0" y="60600"/>
                  </a:lnTo>
                  <a:cubicBezTo>
                    <a:pt x="0" y="44528"/>
                    <a:pt x="6385" y="29114"/>
                    <a:pt x="17749" y="17749"/>
                  </a:cubicBezTo>
                  <a:cubicBezTo>
                    <a:pt x="29114" y="6385"/>
                    <a:pt x="44528" y="0"/>
                    <a:pt x="60600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82367" cy="946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662761" y="6147165"/>
            <a:ext cx="5588698" cy="272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Supports Sinhala &amp; English for children.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Detects stuttering/disfluencies.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Monitors improvement over time.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Gives pronunciation tips and exercise suggestions.</a:t>
            </a:r>
          </a:p>
          <a:p>
            <a:pPr algn="just">
              <a:lnSpc>
                <a:spcPts val="307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787311" y="2880177"/>
            <a:ext cx="6387737" cy="1980247"/>
            <a:chOff x="0" y="0"/>
            <a:chExt cx="1682367" cy="5215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2367" cy="521546"/>
            </a:xfrm>
            <a:custGeom>
              <a:avLst/>
              <a:gdLst/>
              <a:ahLst/>
              <a:cxnLst/>
              <a:rect r="r" b="b" t="t" l="l"/>
              <a:pathLst>
                <a:path h="521546" w="1682367">
                  <a:moveTo>
                    <a:pt x="60600" y="0"/>
                  </a:moveTo>
                  <a:lnTo>
                    <a:pt x="1621767" y="0"/>
                  </a:lnTo>
                  <a:cubicBezTo>
                    <a:pt x="1655236" y="0"/>
                    <a:pt x="1682367" y="27131"/>
                    <a:pt x="1682367" y="60600"/>
                  </a:cubicBezTo>
                  <a:lnTo>
                    <a:pt x="1682367" y="460947"/>
                  </a:lnTo>
                  <a:cubicBezTo>
                    <a:pt x="1682367" y="477019"/>
                    <a:pt x="1675982" y="492432"/>
                    <a:pt x="1664618" y="503797"/>
                  </a:cubicBezTo>
                  <a:cubicBezTo>
                    <a:pt x="1653253" y="515162"/>
                    <a:pt x="1637839" y="521546"/>
                    <a:pt x="1621767" y="521546"/>
                  </a:cubicBezTo>
                  <a:lnTo>
                    <a:pt x="60600" y="521546"/>
                  </a:lnTo>
                  <a:cubicBezTo>
                    <a:pt x="44528" y="521546"/>
                    <a:pt x="29114" y="515162"/>
                    <a:pt x="17749" y="503797"/>
                  </a:cubicBezTo>
                  <a:cubicBezTo>
                    <a:pt x="6385" y="492432"/>
                    <a:pt x="0" y="477019"/>
                    <a:pt x="0" y="460947"/>
                  </a:cubicBezTo>
                  <a:lnTo>
                    <a:pt x="0" y="60600"/>
                  </a:lnTo>
                  <a:cubicBezTo>
                    <a:pt x="0" y="44528"/>
                    <a:pt x="6385" y="29114"/>
                    <a:pt x="17749" y="17749"/>
                  </a:cubicBezTo>
                  <a:cubicBezTo>
                    <a:pt x="29114" y="6385"/>
                    <a:pt x="44528" y="0"/>
                    <a:pt x="60600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82367" cy="55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89299" y="3264828"/>
            <a:ext cx="5783762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Build a cloud-based, AI-powered platform delivering personalized, audio-only speech therapy for children.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404455" y="2880177"/>
            <a:ext cx="6387737" cy="1980247"/>
            <a:chOff x="0" y="0"/>
            <a:chExt cx="1682367" cy="5215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82367" cy="521546"/>
            </a:xfrm>
            <a:custGeom>
              <a:avLst/>
              <a:gdLst/>
              <a:ahLst/>
              <a:cxnLst/>
              <a:rect r="r" b="b" t="t" l="l"/>
              <a:pathLst>
                <a:path h="521546" w="1682367">
                  <a:moveTo>
                    <a:pt x="60600" y="0"/>
                  </a:moveTo>
                  <a:lnTo>
                    <a:pt x="1621767" y="0"/>
                  </a:lnTo>
                  <a:cubicBezTo>
                    <a:pt x="1655236" y="0"/>
                    <a:pt x="1682367" y="27131"/>
                    <a:pt x="1682367" y="60600"/>
                  </a:cubicBezTo>
                  <a:lnTo>
                    <a:pt x="1682367" y="460947"/>
                  </a:lnTo>
                  <a:cubicBezTo>
                    <a:pt x="1682367" y="477019"/>
                    <a:pt x="1675982" y="492432"/>
                    <a:pt x="1664618" y="503797"/>
                  </a:cubicBezTo>
                  <a:cubicBezTo>
                    <a:pt x="1653253" y="515162"/>
                    <a:pt x="1637839" y="521546"/>
                    <a:pt x="1621767" y="521546"/>
                  </a:cubicBezTo>
                  <a:lnTo>
                    <a:pt x="60600" y="521546"/>
                  </a:lnTo>
                  <a:cubicBezTo>
                    <a:pt x="44528" y="521546"/>
                    <a:pt x="29114" y="515162"/>
                    <a:pt x="17749" y="503797"/>
                  </a:cubicBezTo>
                  <a:cubicBezTo>
                    <a:pt x="6385" y="492432"/>
                    <a:pt x="0" y="477019"/>
                    <a:pt x="0" y="460947"/>
                  </a:cubicBezTo>
                  <a:lnTo>
                    <a:pt x="0" y="60600"/>
                  </a:lnTo>
                  <a:cubicBezTo>
                    <a:pt x="0" y="44528"/>
                    <a:pt x="6385" y="29114"/>
                    <a:pt x="17749" y="17749"/>
                  </a:cubicBezTo>
                  <a:cubicBezTo>
                    <a:pt x="29114" y="6385"/>
                    <a:pt x="44528" y="0"/>
                    <a:pt x="60600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82367" cy="55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684245" y="3264828"/>
            <a:ext cx="5828157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76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Current systems are mostly English-only, manual, or need cameras making home use difficult.</a:t>
            </a:r>
          </a:p>
          <a:p>
            <a:pPr algn="just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2012" y="1279771"/>
            <a:ext cx="6676051" cy="4375449"/>
          </a:xfrm>
          <a:custGeom>
            <a:avLst/>
            <a:gdLst/>
            <a:ahLst/>
            <a:cxnLst/>
            <a:rect r="r" b="b" t="t" l="l"/>
            <a:pathLst>
              <a:path h="4375449" w="6676051">
                <a:moveTo>
                  <a:pt x="0" y="0"/>
                </a:moveTo>
                <a:lnTo>
                  <a:pt x="6676051" y="0"/>
                </a:lnTo>
                <a:lnTo>
                  <a:pt x="6676051" y="4375449"/>
                </a:lnTo>
                <a:lnTo>
                  <a:pt x="0" y="4375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7" r="0" b="-76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15190" y="332472"/>
            <a:ext cx="675138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b="true" sz="5000">
                <a:solidFill>
                  <a:srgbClr val="2062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008574" y="1723771"/>
            <a:ext cx="8724032" cy="4061974"/>
            <a:chOff x="0" y="0"/>
            <a:chExt cx="2297688" cy="1069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7687" cy="1069820"/>
            </a:xfrm>
            <a:custGeom>
              <a:avLst/>
              <a:gdLst/>
              <a:ahLst/>
              <a:cxnLst/>
              <a:rect r="r" b="b" t="t" l="l"/>
              <a:pathLst>
                <a:path h="1069820" w="2297687">
                  <a:moveTo>
                    <a:pt x="44371" y="0"/>
                  </a:moveTo>
                  <a:lnTo>
                    <a:pt x="2253316" y="0"/>
                  </a:lnTo>
                  <a:cubicBezTo>
                    <a:pt x="2265084" y="0"/>
                    <a:pt x="2276370" y="4675"/>
                    <a:pt x="2284691" y="12996"/>
                  </a:cubicBezTo>
                  <a:cubicBezTo>
                    <a:pt x="2293013" y="21317"/>
                    <a:pt x="2297687" y="32603"/>
                    <a:pt x="2297687" y="44371"/>
                  </a:cubicBezTo>
                  <a:lnTo>
                    <a:pt x="2297687" y="1025449"/>
                  </a:lnTo>
                  <a:cubicBezTo>
                    <a:pt x="2297687" y="1049955"/>
                    <a:pt x="2277822" y="1069820"/>
                    <a:pt x="2253316" y="1069820"/>
                  </a:cubicBezTo>
                  <a:lnTo>
                    <a:pt x="44371" y="1069820"/>
                  </a:lnTo>
                  <a:cubicBezTo>
                    <a:pt x="19866" y="1069820"/>
                    <a:pt x="0" y="1049955"/>
                    <a:pt x="0" y="1025449"/>
                  </a:cubicBezTo>
                  <a:lnTo>
                    <a:pt x="0" y="44371"/>
                  </a:lnTo>
                  <a:cubicBezTo>
                    <a:pt x="0" y="19866"/>
                    <a:pt x="19866" y="0"/>
                    <a:pt x="44371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97688" cy="1107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481881" y="1971909"/>
            <a:ext cx="7777419" cy="412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Features Delivered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L Classifier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 –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 Detects repetitions, prolongations, and blocks using acoustic features (MFCCs, pitch)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Adaptive Recommender 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–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ersonalize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 exercise difficulty 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with KNN 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based on performance history.</a:t>
            </a:r>
          </a:p>
          <a:p>
            <a:pPr algn="l" marL="539749" indent="-269875" lvl="1">
              <a:lnSpc>
                <a:spcPts val="3599"/>
              </a:lnSpc>
              <a:buFont typeface="Arial"/>
              <a:buChar char="•"/>
            </a:pP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Pronunciation Feedback 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– Use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s ASR (Whisper/Google STT) for phoneme-level correcti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on</a:t>
            </a: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359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99890" y="6223468"/>
            <a:ext cx="8115300" cy="2538424"/>
            <a:chOff x="0" y="0"/>
            <a:chExt cx="2137363" cy="668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668556"/>
            </a:xfrm>
            <a:custGeom>
              <a:avLst/>
              <a:gdLst/>
              <a:ahLst/>
              <a:cxnLst/>
              <a:rect r="r" b="b" t="t" l="l"/>
              <a:pathLst>
                <a:path h="668556" w="2137363">
                  <a:moveTo>
                    <a:pt x="47700" y="0"/>
                  </a:moveTo>
                  <a:lnTo>
                    <a:pt x="2089663" y="0"/>
                  </a:lnTo>
                  <a:cubicBezTo>
                    <a:pt x="2102314" y="0"/>
                    <a:pt x="2114447" y="5025"/>
                    <a:pt x="2123392" y="13971"/>
                  </a:cubicBezTo>
                  <a:cubicBezTo>
                    <a:pt x="2132337" y="22916"/>
                    <a:pt x="2137363" y="35049"/>
                    <a:pt x="2137363" y="47700"/>
                  </a:cubicBezTo>
                  <a:lnTo>
                    <a:pt x="2137363" y="620856"/>
                  </a:lnTo>
                  <a:cubicBezTo>
                    <a:pt x="2137363" y="633507"/>
                    <a:pt x="2132337" y="645640"/>
                    <a:pt x="2123392" y="654585"/>
                  </a:cubicBezTo>
                  <a:cubicBezTo>
                    <a:pt x="2114447" y="663531"/>
                    <a:pt x="2102314" y="668556"/>
                    <a:pt x="2089663" y="668556"/>
                  </a:cubicBezTo>
                  <a:lnTo>
                    <a:pt x="47700" y="668556"/>
                  </a:lnTo>
                  <a:cubicBezTo>
                    <a:pt x="35049" y="668556"/>
                    <a:pt x="22916" y="663531"/>
                    <a:pt x="13971" y="654585"/>
                  </a:cubicBezTo>
                  <a:cubicBezTo>
                    <a:pt x="5025" y="645640"/>
                    <a:pt x="0" y="633507"/>
                    <a:pt x="0" y="62085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7363" cy="706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08574" y="6223468"/>
            <a:ext cx="8724032" cy="2538424"/>
            <a:chOff x="0" y="0"/>
            <a:chExt cx="2297688" cy="6685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7687" cy="668556"/>
            </a:xfrm>
            <a:custGeom>
              <a:avLst/>
              <a:gdLst/>
              <a:ahLst/>
              <a:cxnLst/>
              <a:rect r="r" b="b" t="t" l="l"/>
              <a:pathLst>
                <a:path h="668556" w="2297687">
                  <a:moveTo>
                    <a:pt x="44371" y="0"/>
                  </a:moveTo>
                  <a:lnTo>
                    <a:pt x="2253316" y="0"/>
                  </a:lnTo>
                  <a:cubicBezTo>
                    <a:pt x="2265084" y="0"/>
                    <a:pt x="2276370" y="4675"/>
                    <a:pt x="2284691" y="12996"/>
                  </a:cubicBezTo>
                  <a:cubicBezTo>
                    <a:pt x="2293013" y="21317"/>
                    <a:pt x="2297687" y="32603"/>
                    <a:pt x="2297687" y="44371"/>
                  </a:cubicBezTo>
                  <a:lnTo>
                    <a:pt x="2297687" y="624185"/>
                  </a:lnTo>
                  <a:cubicBezTo>
                    <a:pt x="2297687" y="648690"/>
                    <a:pt x="2277822" y="668556"/>
                    <a:pt x="2253316" y="668556"/>
                  </a:cubicBezTo>
                  <a:lnTo>
                    <a:pt x="44371" y="668556"/>
                  </a:lnTo>
                  <a:cubicBezTo>
                    <a:pt x="19866" y="668556"/>
                    <a:pt x="0" y="648690"/>
                    <a:pt x="0" y="624185"/>
                  </a:cubicBezTo>
                  <a:lnTo>
                    <a:pt x="0" y="44371"/>
                  </a:lnTo>
                  <a:cubicBezTo>
                    <a:pt x="0" y="19866"/>
                    <a:pt x="19866" y="0"/>
                    <a:pt x="44371" y="0"/>
                  </a:cubicBezTo>
                  <a:close/>
                </a:path>
              </a:pathLst>
            </a:custGeom>
            <a:solidFill>
              <a:srgbClr val="BBD8AE"/>
            </a:solidFill>
            <a:ln w="38100" cap="rnd">
              <a:solidFill>
                <a:srgbClr val="BBD8A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97688" cy="706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81881" y="6414029"/>
            <a:ext cx="7777419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Solution Summary:</a:t>
            </a:r>
          </a:p>
          <a:p>
            <a:pPr algn="just">
              <a:lnSpc>
                <a:spcPts val="3499"/>
              </a:lnSpc>
            </a:pPr>
            <a:r>
              <a:rPr lang="en-US" sz="2499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A mobile ecosystem (Vocal Path) that automates stuttering detection and delivers dynamic therapy exercises 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4360" y="6414029"/>
            <a:ext cx="7946359" cy="143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1"/>
              </a:lnSpc>
            </a:pPr>
            <a:r>
              <a:rPr lang="en-US" sz="306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Non-functional Focus</a:t>
            </a:r>
          </a:p>
          <a:p>
            <a:pPr algn="just">
              <a:lnSpc>
                <a:spcPts val="3576"/>
              </a:lnSpc>
            </a:pPr>
            <a:r>
              <a:rPr lang="en-US" sz="2554" spc="-2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Child-friendly gamified usability, high accessibility (large fonts/contrast), and compliant data security 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4919" y="2374065"/>
            <a:ext cx="13153215" cy="7063127"/>
          </a:xfrm>
          <a:custGeom>
            <a:avLst/>
            <a:gdLst/>
            <a:ahLst/>
            <a:cxnLst/>
            <a:rect r="r" b="b" t="t" l="l"/>
            <a:pathLst>
              <a:path h="7063127" w="13153215">
                <a:moveTo>
                  <a:pt x="0" y="0"/>
                </a:moveTo>
                <a:lnTo>
                  <a:pt x="13153214" y="0"/>
                </a:lnTo>
                <a:lnTo>
                  <a:pt x="13153214" y="7063127"/>
                </a:lnTo>
                <a:lnTo>
                  <a:pt x="0" y="7063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2" t="0" r="-1454" b="-12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0192" y="734489"/>
            <a:ext cx="1345794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b="true" sz="5000">
                <a:solidFill>
                  <a:srgbClr val="2062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SYSTEM ARCHITECTURE &amp; INTEGRATION</a:t>
            </a:r>
          </a:p>
          <a:p>
            <a:pPr algn="just">
              <a:lnSpc>
                <a:spcPts val="57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466" y="429782"/>
            <a:ext cx="7689439" cy="3884638"/>
            <a:chOff x="0" y="0"/>
            <a:chExt cx="2025202" cy="1023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202" cy="1023115"/>
            </a:xfrm>
            <a:custGeom>
              <a:avLst/>
              <a:gdLst/>
              <a:ahLst/>
              <a:cxnLst/>
              <a:rect r="r" b="b" t="t" l="l"/>
              <a:pathLst>
                <a:path h="1023115" w="2025202">
                  <a:moveTo>
                    <a:pt x="17116" y="0"/>
                  </a:moveTo>
                  <a:lnTo>
                    <a:pt x="2008086" y="0"/>
                  </a:lnTo>
                  <a:cubicBezTo>
                    <a:pt x="2012626" y="0"/>
                    <a:pt x="2016979" y="1803"/>
                    <a:pt x="2020189" y="5013"/>
                  </a:cubicBezTo>
                  <a:cubicBezTo>
                    <a:pt x="2023399" y="8223"/>
                    <a:pt x="2025202" y="12577"/>
                    <a:pt x="2025202" y="17116"/>
                  </a:cubicBezTo>
                  <a:lnTo>
                    <a:pt x="2025202" y="1005999"/>
                  </a:lnTo>
                  <a:cubicBezTo>
                    <a:pt x="2025202" y="1015452"/>
                    <a:pt x="2017539" y="1023115"/>
                    <a:pt x="2008086" y="1023115"/>
                  </a:cubicBezTo>
                  <a:lnTo>
                    <a:pt x="17116" y="1023115"/>
                  </a:lnTo>
                  <a:cubicBezTo>
                    <a:pt x="12577" y="1023115"/>
                    <a:pt x="8223" y="1021311"/>
                    <a:pt x="5013" y="1018102"/>
                  </a:cubicBezTo>
                  <a:cubicBezTo>
                    <a:pt x="1803" y="1014892"/>
                    <a:pt x="0" y="1010538"/>
                    <a:pt x="0" y="1005999"/>
                  </a:cubicBezTo>
                  <a:lnTo>
                    <a:pt x="0" y="17116"/>
                  </a:lnTo>
                  <a:cubicBezTo>
                    <a:pt x="0" y="7663"/>
                    <a:pt x="7663" y="0"/>
                    <a:pt x="17116" y="0"/>
                  </a:cubicBezTo>
                  <a:close/>
                </a:path>
              </a:pathLst>
            </a:custGeom>
            <a:solidFill>
              <a:srgbClr val="BBD8A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5202" cy="10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6242" y="513551"/>
            <a:ext cx="7037572" cy="141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ML-B</a:t>
            </a:r>
            <a:r>
              <a:rPr lang="en-US" b="true" sz="2700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ased Stuttering Speech Classifier</a:t>
            </a:r>
          </a:p>
          <a:p>
            <a:pPr algn="just">
              <a:lnSpc>
                <a:spcPts val="3780"/>
              </a:lnSpc>
            </a:pP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0691" y="971550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IT22565044</a:t>
            </a: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K.P.S Chithakshana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433" y="1508115"/>
            <a:ext cx="7363506" cy="221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Automatically detects stuttering.</a:t>
            </a: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Extracts acoustic features (MFCCs, pitch, jitter) for real-time analysis.</a:t>
            </a: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Cloud-based REST API enables remote assessment.</a:t>
            </a:r>
          </a:p>
          <a:p>
            <a:pPr algn="l">
              <a:lnSpc>
                <a:spcPts val="294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764654" y="429782"/>
            <a:ext cx="7689439" cy="3884638"/>
            <a:chOff x="0" y="0"/>
            <a:chExt cx="2025202" cy="1023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5202" cy="1023115"/>
            </a:xfrm>
            <a:custGeom>
              <a:avLst/>
              <a:gdLst/>
              <a:ahLst/>
              <a:cxnLst/>
              <a:rect r="r" b="b" t="t" l="l"/>
              <a:pathLst>
                <a:path h="1023115" w="2025202">
                  <a:moveTo>
                    <a:pt x="17116" y="0"/>
                  </a:moveTo>
                  <a:lnTo>
                    <a:pt x="2008086" y="0"/>
                  </a:lnTo>
                  <a:cubicBezTo>
                    <a:pt x="2012626" y="0"/>
                    <a:pt x="2016979" y="1803"/>
                    <a:pt x="2020189" y="5013"/>
                  </a:cubicBezTo>
                  <a:cubicBezTo>
                    <a:pt x="2023399" y="8223"/>
                    <a:pt x="2025202" y="12577"/>
                    <a:pt x="2025202" y="17116"/>
                  </a:cubicBezTo>
                  <a:lnTo>
                    <a:pt x="2025202" y="1005999"/>
                  </a:lnTo>
                  <a:cubicBezTo>
                    <a:pt x="2025202" y="1015452"/>
                    <a:pt x="2017539" y="1023115"/>
                    <a:pt x="2008086" y="1023115"/>
                  </a:cubicBezTo>
                  <a:lnTo>
                    <a:pt x="17116" y="1023115"/>
                  </a:lnTo>
                  <a:cubicBezTo>
                    <a:pt x="12577" y="1023115"/>
                    <a:pt x="8223" y="1021311"/>
                    <a:pt x="5013" y="1018102"/>
                  </a:cubicBezTo>
                  <a:cubicBezTo>
                    <a:pt x="1803" y="1014892"/>
                    <a:pt x="0" y="1010538"/>
                    <a:pt x="0" y="1005999"/>
                  </a:cubicBezTo>
                  <a:lnTo>
                    <a:pt x="0" y="17116"/>
                  </a:lnTo>
                  <a:cubicBezTo>
                    <a:pt x="0" y="7663"/>
                    <a:pt x="7663" y="0"/>
                    <a:pt x="17116" y="0"/>
                  </a:cubicBezTo>
                  <a:close/>
                </a:path>
              </a:pathLst>
            </a:custGeom>
            <a:solidFill>
              <a:srgbClr val="BBD8A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5202" cy="10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17430" y="513551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</a:t>
            </a:r>
            <a:r>
              <a:rPr lang="en-US" b="true" sz="2700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sonalized Exercise Recommender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0588" y="971550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IT22590862</a:t>
            </a: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S.M.C.N. Serasinghe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97781" y="1203160"/>
            <a:ext cx="7044475" cy="316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</a:p>
          <a:p>
            <a:pPr algn="l" marL="435146" indent="-217573" lvl="1">
              <a:lnSpc>
                <a:spcPts val="2821"/>
              </a:lnSpc>
              <a:buFont typeface="Arial"/>
              <a:buChar char="•"/>
            </a:pPr>
            <a:r>
              <a:rPr lang="en-US" sz="2015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Detects repetitions, prolongations, and blocks.</a:t>
            </a:r>
          </a:p>
          <a:p>
            <a:pPr algn="l" marL="435146" indent="-217573" lvl="1">
              <a:lnSpc>
                <a:spcPts val="2821"/>
              </a:lnSpc>
              <a:buFont typeface="Arial"/>
              <a:buChar char="•"/>
            </a:pPr>
            <a:r>
              <a:rPr lang="en-US" sz="2015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Adapts exercises using hybrid rule-based + ML (KNN/Decision Tree).</a:t>
            </a:r>
          </a:p>
          <a:p>
            <a:pPr algn="l" marL="435146" indent="-217573" lvl="1">
              <a:lnSpc>
                <a:spcPts val="2821"/>
              </a:lnSpc>
              <a:buFont typeface="Arial"/>
              <a:buChar char="•"/>
            </a:pPr>
            <a:r>
              <a:rPr lang="en-US" sz="2015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Adjusts session difficulty based on performance history.</a:t>
            </a:r>
          </a:p>
          <a:p>
            <a:pPr algn="l" marL="435146" indent="-217573" lvl="1">
              <a:lnSpc>
                <a:spcPts val="2821"/>
              </a:lnSpc>
              <a:buFont typeface="Arial"/>
              <a:buChar char="•"/>
            </a:pPr>
            <a:r>
              <a:rPr lang="en-US" sz="2015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Enables independent home practice with clinician-like personalization.</a:t>
            </a:r>
          </a:p>
          <a:p>
            <a:pPr algn="l">
              <a:lnSpc>
                <a:spcPts val="2821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740691" y="5060749"/>
            <a:ext cx="7689439" cy="3884638"/>
            <a:chOff x="0" y="0"/>
            <a:chExt cx="2025202" cy="1023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5202" cy="1023115"/>
            </a:xfrm>
            <a:custGeom>
              <a:avLst/>
              <a:gdLst/>
              <a:ahLst/>
              <a:cxnLst/>
              <a:rect r="r" b="b" t="t" l="l"/>
              <a:pathLst>
                <a:path h="1023115" w="2025202">
                  <a:moveTo>
                    <a:pt x="17116" y="0"/>
                  </a:moveTo>
                  <a:lnTo>
                    <a:pt x="2008086" y="0"/>
                  </a:lnTo>
                  <a:cubicBezTo>
                    <a:pt x="2012626" y="0"/>
                    <a:pt x="2016979" y="1803"/>
                    <a:pt x="2020189" y="5013"/>
                  </a:cubicBezTo>
                  <a:cubicBezTo>
                    <a:pt x="2023399" y="8223"/>
                    <a:pt x="2025202" y="12577"/>
                    <a:pt x="2025202" y="17116"/>
                  </a:cubicBezTo>
                  <a:lnTo>
                    <a:pt x="2025202" y="1005999"/>
                  </a:lnTo>
                  <a:cubicBezTo>
                    <a:pt x="2025202" y="1015452"/>
                    <a:pt x="2017539" y="1023115"/>
                    <a:pt x="2008086" y="1023115"/>
                  </a:cubicBezTo>
                  <a:lnTo>
                    <a:pt x="17116" y="1023115"/>
                  </a:lnTo>
                  <a:cubicBezTo>
                    <a:pt x="12577" y="1023115"/>
                    <a:pt x="8223" y="1021311"/>
                    <a:pt x="5013" y="1018102"/>
                  </a:cubicBezTo>
                  <a:cubicBezTo>
                    <a:pt x="1803" y="1014892"/>
                    <a:pt x="0" y="1010538"/>
                    <a:pt x="0" y="1005999"/>
                  </a:cubicBezTo>
                  <a:lnTo>
                    <a:pt x="0" y="17116"/>
                  </a:lnTo>
                  <a:cubicBezTo>
                    <a:pt x="0" y="7663"/>
                    <a:pt x="7663" y="0"/>
                    <a:pt x="17116" y="0"/>
                  </a:cubicBezTo>
                  <a:close/>
                </a:path>
              </a:pathLst>
            </a:custGeom>
            <a:solidFill>
              <a:srgbClr val="BBD8A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25202" cy="10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82367" y="5054609"/>
            <a:ext cx="7037572" cy="94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Pronunci</a:t>
            </a:r>
            <a:r>
              <a:rPr lang="en-US" b="true" sz="2700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 Feedback System</a:t>
            </a:r>
          </a:p>
          <a:p>
            <a:pPr algn="ctr">
              <a:lnSpc>
                <a:spcPts val="378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82367" y="5496568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IT22563064</a:t>
            </a: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R.G.S.N.C. Rathninda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433" y="6173267"/>
            <a:ext cx="7363506" cy="258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Interactive Pronunciation Feedback:</a:t>
            </a: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Uses </a:t>
            </a: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ASR (Whisper/Google STT) for phoneme-level accuracy.</a:t>
            </a: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Provides immediate auditory corrective feedback.</a:t>
            </a:r>
          </a:p>
          <a:p>
            <a:pPr algn="l" marL="454852" indent="-227426" lvl="1">
              <a:lnSpc>
                <a:spcPts val="2949"/>
              </a:lnSpc>
              <a:buFont typeface="Arial"/>
              <a:buChar char="•"/>
            </a:pPr>
            <a:r>
              <a:rPr lang="en-US" sz="2106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Child-friendly mobile interface for self-paced fluency practice.</a:t>
            </a:r>
          </a:p>
          <a:p>
            <a:pPr algn="l">
              <a:lnSpc>
                <a:spcPts val="2949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764654" y="5060749"/>
            <a:ext cx="7689439" cy="3884638"/>
            <a:chOff x="0" y="0"/>
            <a:chExt cx="2025202" cy="10231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5202" cy="1023115"/>
            </a:xfrm>
            <a:custGeom>
              <a:avLst/>
              <a:gdLst/>
              <a:ahLst/>
              <a:cxnLst/>
              <a:rect r="r" b="b" t="t" l="l"/>
              <a:pathLst>
                <a:path h="1023115" w="2025202">
                  <a:moveTo>
                    <a:pt x="17116" y="0"/>
                  </a:moveTo>
                  <a:lnTo>
                    <a:pt x="2008086" y="0"/>
                  </a:lnTo>
                  <a:cubicBezTo>
                    <a:pt x="2012626" y="0"/>
                    <a:pt x="2016979" y="1803"/>
                    <a:pt x="2020189" y="5013"/>
                  </a:cubicBezTo>
                  <a:cubicBezTo>
                    <a:pt x="2023399" y="8223"/>
                    <a:pt x="2025202" y="12577"/>
                    <a:pt x="2025202" y="17116"/>
                  </a:cubicBezTo>
                  <a:lnTo>
                    <a:pt x="2025202" y="1005999"/>
                  </a:lnTo>
                  <a:cubicBezTo>
                    <a:pt x="2025202" y="1015452"/>
                    <a:pt x="2017539" y="1023115"/>
                    <a:pt x="2008086" y="1023115"/>
                  </a:cubicBezTo>
                  <a:lnTo>
                    <a:pt x="17116" y="1023115"/>
                  </a:lnTo>
                  <a:cubicBezTo>
                    <a:pt x="12577" y="1023115"/>
                    <a:pt x="8223" y="1021311"/>
                    <a:pt x="5013" y="1018102"/>
                  </a:cubicBezTo>
                  <a:cubicBezTo>
                    <a:pt x="1803" y="1014892"/>
                    <a:pt x="0" y="1010538"/>
                    <a:pt x="0" y="1005999"/>
                  </a:cubicBezTo>
                  <a:lnTo>
                    <a:pt x="0" y="17116"/>
                  </a:lnTo>
                  <a:cubicBezTo>
                    <a:pt x="0" y="7663"/>
                    <a:pt x="7663" y="0"/>
                    <a:pt x="17116" y="0"/>
                  </a:cubicBezTo>
                  <a:close/>
                </a:path>
              </a:pathLst>
            </a:custGeom>
            <a:solidFill>
              <a:srgbClr val="BBD8AE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5202" cy="10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90588" y="5143794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</a:t>
            </a:r>
            <a:r>
              <a:rPr lang="en-US" b="true" sz="2700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ess Tracking &amp; Predictive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90588" y="5700402"/>
            <a:ext cx="703757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IT22273758</a:t>
            </a:r>
            <a:r>
              <a:rPr lang="en-US" sz="2700" b="true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- K.A.I. Fernando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97781" y="6289046"/>
            <a:ext cx="7216281" cy="2871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758" indent="-222879" lvl="1">
              <a:lnSpc>
                <a:spcPts val="2890"/>
              </a:lnSpc>
              <a:buFont typeface="Arial"/>
              <a:buChar char="•"/>
            </a:pPr>
            <a:r>
              <a:rPr lang="en-US" sz="2064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Progress Tracking &amp; Reporting:</a:t>
            </a:r>
          </a:p>
          <a:p>
            <a:pPr algn="l" marL="445758" indent="-222879" lvl="1">
              <a:lnSpc>
                <a:spcPts val="2890"/>
              </a:lnSpc>
              <a:buFont typeface="Arial"/>
              <a:buChar char="•"/>
            </a:pPr>
            <a:r>
              <a:rPr lang="en-US" sz="2064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Vis</a:t>
            </a:r>
            <a:r>
              <a:rPr lang="en-US" sz="2064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ualizes fluency trends and severity scores using Streamlit/Plotly dashboards.</a:t>
            </a:r>
          </a:p>
          <a:p>
            <a:pPr algn="l" marL="445758" indent="-222879" lvl="1">
              <a:lnSpc>
                <a:spcPts val="2890"/>
              </a:lnSpc>
              <a:buFont typeface="Arial"/>
              <a:buChar char="•"/>
            </a:pPr>
            <a:r>
              <a:rPr lang="en-US" sz="2064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Predicts future improvement with time-series forecasting (Prophet).</a:t>
            </a:r>
          </a:p>
          <a:p>
            <a:pPr algn="l" marL="445758" indent="-222879" lvl="1">
              <a:lnSpc>
                <a:spcPts val="2890"/>
              </a:lnSpc>
              <a:buFont typeface="Arial"/>
              <a:buChar char="•"/>
            </a:pPr>
            <a:r>
              <a:rPr lang="en-US" sz="2064">
                <a:solidFill>
                  <a:srgbClr val="206200"/>
                </a:solidFill>
                <a:latin typeface="Canva Sans"/>
                <a:ea typeface="Canva Sans"/>
                <a:cs typeface="Canva Sans"/>
                <a:sym typeface="Canva Sans"/>
              </a:rPr>
              <a:t>Generates exportable clinical reports for parents and therapists.</a:t>
            </a:r>
          </a:p>
          <a:p>
            <a:pPr algn="l">
              <a:lnSpc>
                <a:spcPts val="289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FC11F">
                <a:alpha val="57000"/>
              </a:srgbClr>
            </a:gs>
            <a:gs pos="50000">
              <a:srgbClr val="006636">
                <a:alpha val="62500"/>
              </a:srgbClr>
            </a:gs>
            <a:gs pos="100000">
              <a:srgbClr val="006636">
                <a:alpha val="625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162912" y="1329034"/>
            <a:ext cx="7962175" cy="931704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943090" y="544513"/>
            <a:ext cx="678070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83A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COMPLETION STATUS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1296" y="2444696"/>
            <a:ext cx="7583795" cy="5397608"/>
          </a:xfrm>
          <a:custGeom>
            <a:avLst/>
            <a:gdLst/>
            <a:ahLst/>
            <a:cxnLst/>
            <a:rect r="r" b="b" t="t" l="l"/>
            <a:pathLst>
              <a:path h="5397608" w="7583795">
                <a:moveTo>
                  <a:pt x="0" y="0"/>
                </a:moveTo>
                <a:lnTo>
                  <a:pt x="7583795" y="0"/>
                </a:lnTo>
                <a:lnTo>
                  <a:pt x="7583795" y="5397608"/>
                </a:lnTo>
                <a:lnTo>
                  <a:pt x="0" y="539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6" t="0" r="-347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917" y="739373"/>
            <a:ext cx="10559319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b="true" sz="5000">
                <a:solidFill>
                  <a:srgbClr val="2062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COMMERCIALIZATION &amp; IMPACT</a:t>
            </a:r>
          </a:p>
          <a:p>
            <a:pPr algn="just">
              <a:lnSpc>
                <a:spcPts val="8549"/>
              </a:lnSpc>
            </a:pPr>
          </a:p>
          <a:p>
            <a:pPr algn="just">
              <a:lnSpc>
                <a:spcPts val="854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52917" y="1978025"/>
            <a:ext cx="9286930" cy="830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Value Proposition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The first AI-driven tool tailored for the Sinhala linguistic context, offering a cost-effective alternative to intensive clinical sessions.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Market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Children aged 5-10 in Sri Lanka and underserved rural regions globally.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Cost/Feasibility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Low-cost implementation (~$60.80 budget) leveraging cloud free-tiers and existing mobile hardware.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83A07"/>
                </a:solidFill>
                <a:latin typeface="Roboto Bold"/>
                <a:ea typeface="Roboto Bold"/>
                <a:cs typeface="Roboto Bold"/>
                <a:sym typeface="Roboto Bold"/>
              </a:rPr>
              <a:t>Adoption Plan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06200"/>
                </a:solidFill>
                <a:latin typeface="Roboto"/>
                <a:ea typeface="Roboto"/>
                <a:cs typeface="Roboto"/>
                <a:sym typeface="Roboto"/>
              </a:rPr>
              <a:t>Pilot testing at Lady Ridgeway Hospital under SLP supervision followed by integration into school-based screening programs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2171072" y="3901255"/>
            <a:ext cx="13945856" cy="2484491"/>
            <a:chOff x="0" y="0"/>
            <a:chExt cx="3672983" cy="6543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2983" cy="654351"/>
            </a:xfrm>
            <a:custGeom>
              <a:avLst/>
              <a:gdLst/>
              <a:ahLst/>
              <a:cxnLst/>
              <a:rect r="r" b="b" t="t" l="l"/>
              <a:pathLst>
                <a:path h="654351" w="3672983">
                  <a:moveTo>
                    <a:pt x="44411" y="0"/>
                  </a:moveTo>
                  <a:lnTo>
                    <a:pt x="3628572" y="0"/>
                  </a:lnTo>
                  <a:cubicBezTo>
                    <a:pt x="3640350" y="0"/>
                    <a:pt x="3651646" y="4679"/>
                    <a:pt x="3659975" y="13008"/>
                  </a:cubicBezTo>
                  <a:cubicBezTo>
                    <a:pt x="3668304" y="21337"/>
                    <a:pt x="3672983" y="32633"/>
                    <a:pt x="3672983" y="44411"/>
                  </a:cubicBezTo>
                  <a:lnTo>
                    <a:pt x="3672983" y="609940"/>
                  </a:lnTo>
                  <a:cubicBezTo>
                    <a:pt x="3672983" y="634468"/>
                    <a:pt x="3653099" y="654351"/>
                    <a:pt x="3628572" y="654351"/>
                  </a:cubicBezTo>
                  <a:lnTo>
                    <a:pt x="44411" y="654351"/>
                  </a:lnTo>
                  <a:cubicBezTo>
                    <a:pt x="19884" y="654351"/>
                    <a:pt x="0" y="634468"/>
                    <a:pt x="0" y="609940"/>
                  </a:cubicBezTo>
                  <a:lnTo>
                    <a:pt x="0" y="44411"/>
                  </a:lnTo>
                  <a:cubicBezTo>
                    <a:pt x="0" y="19884"/>
                    <a:pt x="19884" y="0"/>
                    <a:pt x="444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FC11F">
                    <a:alpha val="57000"/>
                  </a:srgbClr>
                </a:gs>
                <a:gs pos="50000">
                  <a:srgbClr val="006636">
                    <a:alpha val="62500"/>
                  </a:srgbClr>
                </a:gs>
                <a:gs pos="100000">
                  <a:srgbClr val="006636">
                    <a:alpha val="625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72983" cy="692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50893" y="2069529"/>
            <a:ext cx="545019" cy="521105"/>
          </a:xfrm>
          <a:custGeom>
            <a:avLst/>
            <a:gdLst/>
            <a:ahLst/>
            <a:cxnLst/>
            <a:rect r="r" b="b" t="t" l="l"/>
            <a:pathLst>
              <a:path h="521105" w="545019">
                <a:moveTo>
                  <a:pt x="0" y="0"/>
                </a:moveTo>
                <a:lnTo>
                  <a:pt x="545018" y="0"/>
                </a:lnTo>
                <a:lnTo>
                  <a:pt x="545018" y="521105"/>
                </a:lnTo>
                <a:lnTo>
                  <a:pt x="0" y="52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77573" y="4453104"/>
            <a:ext cx="8348392" cy="152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31"/>
              </a:lnSpc>
            </a:pPr>
            <a:r>
              <a:rPr lang="en-US" b="true" sz="10982">
                <a:solidFill>
                  <a:srgbClr val="2062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77449" y="2768939"/>
            <a:ext cx="169190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BORCELLE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DAHDiFM6GQs</dc:identifier>
  <dcterms:modified xsi:type="dcterms:W3CDTF">2011-08-01T06:04:30Z</dcterms:modified>
  <cp:revision>1</cp:revision>
  <dc:title>Green and White Modern Research Study Presentation</dc:title>
</cp:coreProperties>
</file>